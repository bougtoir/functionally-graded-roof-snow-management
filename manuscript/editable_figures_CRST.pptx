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1</a:t>
            </a:r>
          </a:p>
        </p:txBody>
      </p:sp>
      <p:pic>
        <p:nvPicPr>
          <p:cNvPr id="3" name="Picture 2" descr="figure_1_conceptua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16" y="777240"/>
            <a:ext cx="1075126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1. Reduced-order model and comparative optimization workflow.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2</a:t>
            </a:r>
          </a:p>
        </p:txBody>
      </p:sp>
      <p:pic>
        <p:nvPicPr>
          <p:cNvPr id="3" name="Picture 2" descr="figure_2_weather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48215"/>
            <a:ext cx="10972800" cy="4978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2. Synthetic snowfall scenarios and JMA ground-snow contexts.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3</a:t>
            </a:r>
          </a:p>
        </p:txBody>
      </p:sp>
      <p:pic>
        <p:nvPicPr>
          <p:cNvPr id="3" name="Picture 2" descr="figure_3_primary_paret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78556"/>
            <a:ext cx="10972800" cy="4718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3. Unique objective pairs for the exhaustive uniform and heuristic joint sets, shown over the full range and the intermediate trade-off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4</a:t>
            </a:r>
          </a:p>
        </p:txBody>
      </p:sp>
      <p:pic>
        <p:nvPicPr>
          <p:cNvPr id="3" name="Picture 2" descr="figure_4_selected_grade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70" y="777240"/>
            <a:ext cx="5486753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4. Continuous joint-knee slope and friction profiles compared with the post hoc segmented, generic-class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5</a:t>
            </a:r>
          </a:p>
        </p:txBody>
      </p:sp>
      <p:pic>
        <p:nvPicPr>
          <p:cNvPr id="3" name="Picture 2" descr="figure_5_ablation_pareto_fro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50" y="777240"/>
            <a:ext cx="661179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5. Unique objective pairs for the uniform, geometry-only, surface-only, and joint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6</a:t>
            </a:r>
          </a:p>
        </p:txBody>
      </p:sp>
      <p:pic>
        <p:nvPicPr>
          <p:cNvPr id="3" name="Picture 2" descr="figure_6_numerica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543" y="777240"/>
            <a:ext cx="665460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6. Four-metric numerical convergence relative to the 48-cell, 0.5-h reference; the dashed line is the frozen relative-error tolerance.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7</a:t>
            </a:r>
          </a:p>
        </p:txBody>
      </p:sp>
      <p:pic>
        <p:nvPicPr>
          <p:cNvPr id="3" name="Picture 2" descr="figure_7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23" y="777240"/>
            <a:ext cx="641864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7. Prespecified one-at-a-time sensitivity. Labels state each low/high factor or encoded alternative; bars are relative changes from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8</a:t>
            </a:r>
          </a:p>
        </p:txBody>
      </p:sp>
      <p:pic>
        <p:nvPicPr>
          <p:cNvPr id="3" name="Picture 2" descr="figure_8_monte_carlo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90" y="777240"/>
            <a:ext cx="780991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8. Candidate-specific Q95 retained-mass and release-mass outcomes under 250 paired perturbation draws. Symmetric-log axes include zero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9</a:t>
            </a:r>
          </a:p>
        </p:txBody>
      </p:sp>
      <p:pic>
        <p:nvPicPr>
          <p:cNvPr id="3" name="Picture 2" descr="figure_9_decision_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29" y="777240"/>
            <a:ext cx="997363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Arial"/>
              </a:rPr>
              <a:t>Figure 9. Frozen labor-scarcity selections in the base decision scenario and phase-diagram objective pairs; bubble area reflects selection frequency.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