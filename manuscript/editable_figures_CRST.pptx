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1</a:t>
            </a:r>
          </a:p>
        </p:txBody>
      </p:sp>
      <p:pic>
        <p:nvPicPr>
          <p:cNvPr id="3" name="Picture 2" descr="figure_1_conceptua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16" y="777240"/>
            <a:ext cx="10751262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1. Reduced-order model and comparative optimization workflow.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2</a:t>
            </a:r>
          </a:p>
        </p:txBody>
      </p:sp>
      <p:pic>
        <p:nvPicPr>
          <p:cNvPr id="3" name="Picture 2" descr="figure_2_weather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48215"/>
            <a:ext cx="10972800" cy="49786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2. Synthetic snowfall scenarios and JMA ground-snow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3</a:t>
            </a:r>
          </a:p>
        </p:txBody>
      </p:sp>
      <p:pic>
        <p:nvPicPr>
          <p:cNvPr id="3" name="Picture 2" descr="figure_3_primary_paret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950" y="777240"/>
            <a:ext cx="661179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3. Primary modeled retained-mass and release-mass Pareto comparison.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4</a:t>
            </a:r>
          </a:p>
        </p:txBody>
      </p:sp>
      <p:pic>
        <p:nvPicPr>
          <p:cNvPr id="3" name="Picture 2" descr="figure_4_selected_graded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777240"/>
            <a:ext cx="768096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4. Selected graded joint profile and generic mapped surface classes.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5</a:t>
            </a:r>
          </a:p>
        </p:txBody>
      </p:sp>
      <p:pic>
        <p:nvPicPr>
          <p:cNvPr id="3" name="Picture 2" descr="figure_5_ablation_pareto_fro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950" y="777240"/>
            <a:ext cx="661179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5. Geometry-only, surface-only, and joint heterogeneous Pareto fronts.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6</a:t>
            </a:r>
          </a:p>
        </p:txBody>
      </p:sp>
      <p:pic>
        <p:nvPicPr>
          <p:cNvPr id="3" name="Picture 2" descr="figure_6_numerical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30" y="777240"/>
            <a:ext cx="10694033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6. Numerical convergence relative to the finest tested resolution.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7</a:t>
            </a:r>
          </a:p>
        </p:txBody>
      </p:sp>
      <p:pic>
        <p:nvPicPr>
          <p:cNvPr id="3" name="Picture 2" descr="figure_7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740" y="777240"/>
            <a:ext cx="735421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7. Prespecified one-at-a-time sensitivity of primary outcomes.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8</a:t>
            </a:r>
          </a:p>
        </p:txBody>
      </p:sp>
      <p:pic>
        <p:nvPicPr>
          <p:cNvPr id="3" name="Picture 2" descr="figure_8_monte_carlo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697" y="777240"/>
            <a:ext cx="69803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8. Monte Carlo perturbation distributions for frontier candidates.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9</a:t>
            </a:r>
          </a:p>
        </p:txBody>
      </p:sp>
      <p:pic>
        <p:nvPicPr>
          <p:cNvPr id="3" name="Picture 2" descr="figure_9_decision_ph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122" y="777240"/>
            <a:ext cx="10347449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9. Labor-scarcity selections and frozen strategy classifications.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