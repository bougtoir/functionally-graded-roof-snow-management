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latin typeface="Arial"/>
              </a:rPr>
              <a:t>Figure 1</a:t>
            </a:r>
          </a:p>
        </p:txBody>
      </p:sp>
      <p:pic>
        <p:nvPicPr>
          <p:cNvPr id="3" name="Picture 2" descr="figure_1_conceptual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216" y="777240"/>
            <a:ext cx="10751262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89320"/>
            <a:ext cx="1127729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latin typeface="Arial"/>
              </a:rPr>
              <a:t>Figure 1. Reduced-order model and comparative optimization workflow.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latin typeface="Arial"/>
              </a:rPr>
              <a:t>Figure 2</a:t>
            </a:r>
          </a:p>
        </p:txBody>
      </p:sp>
      <p:pic>
        <p:nvPicPr>
          <p:cNvPr id="3" name="Picture 2" descr="figure_2_weather_scenar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848215"/>
            <a:ext cx="10972800" cy="497868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89320"/>
            <a:ext cx="1127729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latin typeface="Arial"/>
              </a:rPr>
              <a:t>Figure 2. Synthetic snowfall scenarios and JMA ground-snow contexts.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latin typeface="Arial"/>
              </a:rPr>
              <a:t>Figure 3</a:t>
            </a:r>
          </a:p>
        </p:txBody>
      </p:sp>
      <p:pic>
        <p:nvPicPr>
          <p:cNvPr id="3" name="Picture 2" descr="figure_3_primary_pareto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978556"/>
            <a:ext cx="10972800" cy="471800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89320"/>
            <a:ext cx="1127729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latin typeface="Arial"/>
              </a:rPr>
              <a:t>Figure 3. Unique objective pairs for the exhaustive uniform and heuristic joint sets, shown over the full range and the intermediate trade-off region.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latin typeface="Arial"/>
              </a:rPr>
              <a:t>Figure 4</a:t>
            </a:r>
          </a:p>
        </p:txBody>
      </p:sp>
      <p:pic>
        <p:nvPicPr>
          <p:cNvPr id="3" name="Picture 2" descr="figure_4_selected_graded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34" y="777240"/>
            <a:ext cx="5489227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89320"/>
            <a:ext cx="1127729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latin typeface="Arial"/>
              </a:rPr>
              <a:t>Figure 4. Continuous joint-knee slope and friction profiles compared with the post hoc segmented, generic-class mapping.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latin typeface="Arial"/>
              </a:rPr>
              <a:t>Figure 5</a:t>
            </a:r>
          </a:p>
        </p:txBody>
      </p:sp>
      <p:pic>
        <p:nvPicPr>
          <p:cNvPr id="3" name="Picture 2" descr="figure_5_ablation_pareto_fro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9950" y="777240"/>
            <a:ext cx="6611794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89320"/>
            <a:ext cx="1127729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latin typeface="Arial"/>
              </a:rPr>
              <a:t>Figure 5. Unique objective pairs for the uniform, geometry-only, surface-only, and joint sets.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latin typeface="Arial"/>
              </a:rPr>
              <a:t>Figure 6</a:t>
            </a:r>
          </a:p>
        </p:txBody>
      </p:sp>
      <p:pic>
        <p:nvPicPr>
          <p:cNvPr id="3" name="Picture 2" descr="figure_6_numerical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8543" y="777240"/>
            <a:ext cx="6654608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89320"/>
            <a:ext cx="1127729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latin typeface="Arial"/>
              </a:rPr>
              <a:t>Figure 6. Four-metric numerical convergence relative to the 48-cell, 0.5-h reference; the dashed line is the frozen relative-error tolerance.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latin typeface="Arial"/>
              </a:rPr>
              <a:t>Figure 7</a:t>
            </a:r>
          </a:p>
        </p:txBody>
      </p:sp>
      <p:pic>
        <p:nvPicPr>
          <p:cNvPr id="3" name="Picture 2" descr="figure_7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5442" y="777240"/>
            <a:ext cx="642081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89320"/>
            <a:ext cx="1127729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latin typeface="Arial"/>
              </a:rPr>
              <a:t>Figure 7. Prespecified one-at-a-time sensitivity. Labels state each low/high factor or encoded alternative; bars are relative changes from baseline.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latin typeface="Arial"/>
              </a:rPr>
              <a:t>Figure 8</a:t>
            </a:r>
          </a:p>
        </p:txBody>
      </p:sp>
      <p:pic>
        <p:nvPicPr>
          <p:cNvPr id="3" name="Picture 2" descr="figure_8_monte_carlo_robust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890" y="777240"/>
            <a:ext cx="7809914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89320"/>
            <a:ext cx="1127729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latin typeface="Arial"/>
              </a:rPr>
              <a:t>Figure 8. Candidate-specific Q95 retained-mass and release-mass outcomes under 250 paired perturbation draws. Symmetric-log axes include zero outcomes.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latin typeface="Arial"/>
              </a:rPr>
              <a:t>Figure 9</a:t>
            </a:r>
          </a:p>
        </p:txBody>
      </p:sp>
      <p:pic>
        <p:nvPicPr>
          <p:cNvPr id="3" name="Picture 2" descr="figure_9_decision_phas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303" y="777240"/>
            <a:ext cx="10253087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89320"/>
            <a:ext cx="1127729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latin typeface="Arial"/>
              </a:rPr>
              <a:t>Figure 9. Frozen labor-scarcity selections in the base decision scenario and phase-diagram objective pairs; bubble area reflects selection frequency.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